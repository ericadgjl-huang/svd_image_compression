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69" r:id="rId5"/>
    <p:sldId id="266" r:id="rId6"/>
    <p:sldId id="270" r:id="rId7"/>
    <p:sldId id="275" r:id="rId8"/>
    <p:sldId id="274" r:id="rId9"/>
    <p:sldId id="277" r:id="rId10"/>
    <p:sldId id="278" r:id="rId11"/>
    <p:sldId id="27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4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6554-D6FC-CC99-723A-EAFC4A27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1D114-62CF-A929-214C-7EBBCE7B8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AC0BE-6D7F-C562-DAD4-69DB5B46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37D65-1F17-B04B-5395-DFD8956D0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9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0A6C8-28CF-1EFA-F05B-D1CCE061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C6594-E8E0-ED26-7BC9-2179BCB69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D19A9-84D2-4350-0841-D5CE0E3A9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A1256-9912-DB8B-BD54-3208ED733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89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82EC-9A8B-8198-BA6A-8221AFDA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41FF5-9F08-F31F-8FF0-8D494ED45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ADAE8-4F30-7C66-B49C-5587EB92A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35BEC-ACED-12AE-8439-1A75CB531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9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DA54-3813-5FE8-41E1-1444FF92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333A5-D785-414F-D0C5-AAA80848C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41DF4-B959-236A-B106-8EB63FD9D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C0429-0BE6-8B0C-7E44-911357749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53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FE2A-9F78-EF37-AE66-5D4C842A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062FE-C84B-3910-C1E8-B1CB98AEA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FBCB9-9235-CB78-3133-EEAEF1E53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73883-FD46-2999-7AED-9F86A8955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80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38C7A-6507-BA14-B133-127547DC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066F8-3107-D447-7CDA-0BFA181B2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D258C-6D2D-E183-7FC2-B859B7A86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25947-CF30-2039-E140-BC03230AFE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54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61A2D-2FF2-2572-8F14-746DB5A6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1ABB4-39BD-05EA-B004-3215E203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B2E65-0302-5C1E-3339-F4ECDFB4A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C199E-C363-8AA9-74A5-DDD91AA49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6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7E28-5DB2-816C-1280-FF7D9525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CFB3D-631F-348C-58A8-9B354D84F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928CE-C30A-6EF2-AFC9-AD616ED90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91263-1E9A-E344-6F4F-ADDD1EA43C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74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EF3C-00DC-1F70-D164-33922BBB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7A595-B4F4-F0CE-930D-9EC832971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5131C-8A33-CF71-D8B9-B3701B3E8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09EAB-75BA-E6A6-C715-AC3F8CD0E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1A305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74320"/>
            <a:ext cx="2560320" cy="25603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數據分析數學</a:t>
            </a: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HW1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601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影像壓縮分析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5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奇異値分解的數學原理與最佳 k 値選擇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4754880" cy="77724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U Σ Vᵀ   →   Aₖ = Σᵢ₌₁ᵏ σᵢ uᵢ vᵢᵀ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影像尺寸：4284 × 5712  |  </a:t>
            </a:r>
            <a:r>
              <a:rPr lang="en-US" sz="1200" dirty="0" err="1">
                <a:solidFill>
                  <a:srgbClr val="7F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語言：Python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6733-A4B9-430F-ABA6-FEBCACF0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32F63F-3DBA-3CA1-A221-856BD7FA069A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8A36C9-2B41-8B45-216B-1915D11EBC0B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8BFD7E-BB1E-006C-BD09-C8E86B2B8317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影像與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61EEAB-174B-3116-DBF4-03D1EE4683B6}"/>
              </a:ext>
            </a:extLst>
          </p:cNvPr>
          <p:cNvSpPr/>
          <p:nvPr/>
        </p:nvSpPr>
        <p:spPr>
          <a:xfrm>
            <a:off x="4297680" y="926973"/>
            <a:ext cx="4572000" cy="302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DCC82C-7951-71EB-2438-906CB20E27B6}"/>
              </a:ext>
            </a:extLst>
          </p:cNvPr>
          <p:cNvSpPr/>
          <p:nvPr/>
        </p:nvSpPr>
        <p:spPr>
          <a:xfrm>
            <a:off x="4297680" y="926973"/>
            <a:ext cx="4572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3A3A013-69FB-7777-559A-ED7A16EECFD3}"/>
              </a:ext>
            </a:extLst>
          </p:cNvPr>
          <p:cNvSpPr/>
          <p:nvPr/>
        </p:nvSpPr>
        <p:spPr>
          <a:xfrm>
            <a:off x="4480560" y="1064133"/>
            <a:ext cx="4206240" cy="713232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6D18E2-F964-14E3-4D29-0FB6CE166E78}"/>
              </a:ext>
            </a:extLst>
          </p:cNvPr>
          <p:cNvSpPr/>
          <p:nvPr/>
        </p:nvSpPr>
        <p:spPr>
          <a:xfrm>
            <a:off x="4480560" y="1064133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U Σ Vᵀ</a:t>
            </a:r>
            <a:endParaRPr lang="en-US" sz="3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F21FC26-CD8B-F311-A7C8-ED564F17B284}"/>
              </a:ext>
            </a:extLst>
          </p:cNvPr>
          <p:cNvSpPr/>
          <p:nvPr/>
        </p:nvSpPr>
        <p:spPr>
          <a:xfrm>
            <a:off x="4480560" y="1932813"/>
            <a:ext cx="4206240" cy="402336"/>
          </a:xfrm>
          <a:prstGeom prst="rect">
            <a:avLst/>
          </a:prstGeom>
          <a:solidFill>
            <a:srgbClr val="F8FA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6BA4F0F-8DBA-1E6A-CB71-2042F1945B7B}"/>
              </a:ext>
            </a:extLst>
          </p:cNvPr>
          <p:cNvSpPr/>
          <p:nvPr/>
        </p:nvSpPr>
        <p:spPr>
          <a:xfrm>
            <a:off x="4480560" y="1932813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(4284 × 5712)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影像矩陣</a:t>
            </a:r>
            <a:endParaRPr lang="en-US" sz="15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5B5A16-9AA9-092A-592B-F531F474F29B}"/>
              </a:ext>
            </a:extLst>
          </p:cNvPr>
          <p:cNvSpPr/>
          <p:nvPr/>
        </p:nvSpPr>
        <p:spPr>
          <a:xfrm>
            <a:off x="4480560" y="2390013"/>
            <a:ext cx="4206240" cy="402336"/>
          </a:xfrm>
          <a:prstGeom prst="rect">
            <a:avLst/>
          </a:prstGeom>
          <a:solidFill>
            <a:srgbClr val="F8FAF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73885EB-A098-0E8D-B5B3-724D294F0E3F}"/>
              </a:ext>
            </a:extLst>
          </p:cNvPr>
          <p:cNvSpPr/>
          <p:nvPr/>
        </p:nvSpPr>
        <p:spPr>
          <a:xfrm>
            <a:off x="4480560" y="2390013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(4284 × 4284)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左奇異向量矩陣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9C97355-666A-3D8C-7DF3-3DE54E17989E}"/>
              </a:ext>
            </a:extLst>
          </p:cNvPr>
          <p:cNvSpPr/>
          <p:nvPr/>
        </p:nvSpPr>
        <p:spPr>
          <a:xfrm>
            <a:off x="4480560" y="2847213"/>
            <a:ext cx="4206240" cy="402336"/>
          </a:xfrm>
          <a:prstGeom prst="rect">
            <a:avLst/>
          </a:prstGeom>
          <a:solidFill>
            <a:srgbClr val="F8FA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229064-EE14-D7D7-E6DC-F773CA65A28B}"/>
              </a:ext>
            </a:extLst>
          </p:cNvPr>
          <p:cNvSpPr/>
          <p:nvPr/>
        </p:nvSpPr>
        <p:spPr>
          <a:xfrm>
            <a:off x="4480560" y="2847213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(4284 × 5712)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奇異値對角矩陣 (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降序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E86C62D-45A4-7547-BE18-EEBB8F2DE2BA}"/>
              </a:ext>
            </a:extLst>
          </p:cNvPr>
          <p:cNvSpPr/>
          <p:nvPr/>
        </p:nvSpPr>
        <p:spPr>
          <a:xfrm>
            <a:off x="4480560" y="3304413"/>
            <a:ext cx="4206240" cy="402336"/>
          </a:xfrm>
          <a:prstGeom prst="rect">
            <a:avLst/>
          </a:prstGeom>
          <a:solidFill>
            <a:srgbClr val="F8FAFF"/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37C66B4-AD14-4DE6-500C-737F9CC1C3DC}"/>
              </a:ext>
            </a:extLst>
          </p:cNvPr>
          <p:cNvSpPr/>
          <p:nvPr/>
        </p:nvSpPr>
        <p:spPr>
          <a:xfrm>
            <a:off x="4480560" y="3304413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Vᵀ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(5712 × 5712)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右奇異向量</a:t>
            </a:r>
            <a:r>
              <a:rPr lang="zh-TW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轉置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矩陣</a:t>
            </a:r>
            <a:endParaRPr lang="en-US" sz="15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BD1FF28-4A91-A01A-1187-B8D8D1ABD70B}"/>
              </a:ext>
            </a:extLst>
          </p:cNvPr>
          <p:cNvSpPr/>
          <p:nvPr/>
        </p:nvSpPr>
        <p:spPr>
          <a:xfrm>
            <a:off x="274320" y="935482"/>
            <a:ext cx="3703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04081CE-8766-7620-01B1-16075E9A01B2}"/>
              </a:ext>
            </a:extLst>
          </p:cNvPr>
          <p:cNvSpPr/>
          <p:nvPr/>
        </p:nvSpPr>
        <p:spPr>
          <a:xfrm>
            <a:off x="274320" y="935482"/>
            <a:ext cx="37033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573D0CA-764C-C226-AA95-3499447552EF}"/>
              </a:ext>
            </a:extLst>
          </p:cNvPr>
          <p:cNvSpPr/>
          <p:nvPr/>
        </p:nvSpPr>
        <p:spPr>
          <a:xfrm>
            <a:off x="411480" y="104521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與灰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階影像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</a:t>
            </a:r>
            <a:endParaRPr lang="en-US" sz="14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BEB8E0D-3CFA-4CBC-8D3B-58C71FFE3BE5}"/>
              </a:ext>
            </a:extLst>
          </p:cNvPr>
          <p:cNvSpPr/>
          <p:nvPr/>
        </p:nvSpPr>
        <p:spPr>
          <a:xfrm>
            <a:off x="1375992" y="1398893"/>
            <a:ext cx="1664208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68B3167-E827-9C9E-3C93-5405DA4009F0}"/>
              </a:ext>
            </a:extLst>
          </p:cNvPr>
          <p:cNvSpPr/>
          <p:nvPr/>
        </p:nvSpPr>
        <p:spPr>
          <a:xfrm>
            <a:off x="1375992" y="1398893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請插入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彩色原圖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my_image.jpg</a:t>
            </a:r>
            <a:endParaRPr lang="en-US" sz="9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86517F0-19C3-752C-7022-9ACAA85D19DC}"/>
              </a:ext>
            </a:extLst>
          </p:cNvPr>
          <p:cNvSpPr/>
          <p:nvPr/>
        </p:nvSpPr>
        <p:spPr>
          <a:xfrm>
            <a:off x="1375992" y="2843645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4284 × 5712 × 3</a:t>
            </a:r>
            <a:endParaRPr lang="en-US" sz="9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A45A103-8C38-A8B2-CC8C-9494DD0DAE2C}"/>
              </a:ext>
            </a:extLst>
          </p:cNvPr>
          <p:cNvSpPr/>
          <p:nvPr/>
        </p:nvSpPr>
        <p:spPr>
          <a:xfrm>
            <a:off x="1375992" y="3117965"/>
            <a:ext cx="166420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32DA9A5-896B-4E84-091F-C0FFE35C134B}"/>
              </a:ext>
            </a:extLst>
          </p:cNvPr>
          <p:cNvSpPr/>
          <p:nvPr/>
        </p:nvSpPr>
        <p:spPr>
          <a:xfrm>
            <a:off x="1375992" y="3117965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請插入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灰階圖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95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E2DA189-5667-FA1E-FC12-EEDA83050C8D}"/>
              </a:ext>
            </a:extLst>
          </p:cNvPr>
          <p:cNvSpPr/>
          <p:nvPr/>
        </p:nvSpPr>
        <p:spPr>
          <a:xfrm>
            <a:off x="1375992" y="4592689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4284 × 5712</a:t>
            </a:r>
            <a:endParaRPr lang="en-US" sz="90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1697513-9E03-74C5-824E-DA041545C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533" b="-54"/>
          <a:stretch>
            <a:fillRect/>
          </a:stretch>
        </p:blipFill>
        <p:spPr>
          <a:xfrm>
            <a:off x="1409371" y="1465129"/>
            <a:ext cx="1603397" cy="1329748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B3B3B885-68BA-67F6-0C0E-D5EA71DB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/>
          <a:stretch>
            <a:fillRect/>
          </a:stretch>
        </p:blipFill>
        <p:spPr>
          <a:xfrm>
            <a:off x="1406397" y="3184906"/>
            <a:ext cx="1603397" cy="132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降維與影像壓縮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(Eckart-Young-Mirsky 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定理驗證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572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572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065" y="3520440"/>
            <a:ext cx="4206240" cy="86868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750" y="3520440"/>
            <a:ext cx="420624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壓縮原理：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保留前 k 個奇異値，捨棄小的 σₖ₊₁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以後</a:t>
            </a:r>
            <a:r>
              <a:rPr lang="en-US" altLang="zh-TW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r>
              <a:rPr lang="en-US" altLang="zh-TW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。依 Eckart-Young-Mirsky 定理：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||A−Aₖ||₂ = σₖ₊₁</a:t>
            </a:r>
            <a:endParaRPr lang="en-US" sz="1200" b="1" dirty="0"/>
          </a:p>
        </p:txBody>
      </p:sp>
      <p:sp>
        <p:nvSpPr>
          <p:cNvPr id="19" name="Shape 17"/>
          <p:cNvSpPr/>
          <p:nvPr/>
        </p:nvSpPr>
        <p:spPr>
          <a:xfrm>
            <a:off x="5120640" y="914400"/>
            <a:ext cx="3703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914400"/>
            <a:ext cx="37033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0241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影像驗證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Eckart-Young-Mirsky 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6750" y="2029968"/>
            <a:ext cx="420624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189" y="2121408"/>
            <a:ext cx="39830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Rank-k</a:t>
            </a:r>
            <a:r>
              <a:rPr lang="zh-TW" alt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189" y="2468880"/>
            <a:ext cx="39830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ₖ</a:t>
            </a: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Σᵢ₌₁</a:t>
            </a: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ᵏ</a:t>
            </a: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σᵢ uᵢ vᵢᵀ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8189" y="2926080"/>
            <a:ext cx="39830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值是關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鍵參數</a:t>
            </a:r>
            <a:endParaRPr lang="en-US" sz="105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B6F7D528-9653-48C9-746F-1AF51417B6C6}"/>
              </a:ext>
            </a:extLst>
          </p:cNvPr>
          <p:cNvSpPr/>
          <p:nvPr/>
        </p:nvSpPr>
        <p:spPr>
          <a:xfrm>
            <a:off x="502920" y="1193292"/>
            <a:ext cx="4206240" cy="713232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ED52C51C-B796-4009-B032-32681E50ECAE}"/>
              </a:ext>
            </a:extLst>
          </p:cNvPr>
          <p:cNvSpPr/>
          <p:nvPr/>
        </p:nvSpPr>
        <p:spPr>
          <a:xfrm>
            <a:off x="502920" y="11932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U Σ Vᵀ</a:t>
            </a:r>
            <a:endParaRPr lang="en-US" sz="3200" dirty="0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7A48E526-1146-B3C6-C825-E0CAFBAB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466"/>
          <a:stretch>
            <a:fillRect/>
          </a:stretch>
        </p:blipFill>
        <p:spPr>
          <a:xfrm>
            <a:off x="5257800" y="1371599"/>
            <a:ext cx="3424135" cy="3424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98AE-CB10-C6C6-FA82-DC27F017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2E2775-8118-EE1B-B635-D42CECE54C22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07EEF1-6837-D5C5-E732-F951DE5FA19E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59A3EF-E328-5A21-718F-D16371D31FB0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降維與影像壓縮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(Eckart-Young-Mirsky 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定理驗證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624AC80-A3CA-B9B2-AC12-E46E29E3B867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FE8D9EB-9A0C-8A3E-9A90-56833F56844B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C251A5-50E2-E7F6-52FB-914257A799B3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影像各通道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(RGB)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Eckart-Young-Mirsky 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定理</a:t>
            </a:r>
            <a:endParaRPr lang="en-US" sz="1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43B6936-8E0D-6B22-211C-AFFF0FC543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726"/>
          <a:stretch>
            <a:fillRect/>
          </a:stretch>
        </p:blipFill>
        <p:spPr>
          <a:xfrm>
            <a:off x="442660" y="1481203"/>
            <a:ext cx="2596727" cy="257175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EA7B96E8-4EB2-D6FC-D7B0-2115F1BD93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276"/>
          <a:stretch>
            <a:fillRect/>
          </a:stretch>
        </p:blipFill>
        <p:spPr>
          <a:xfrm>
            <a:off x="3187700" y="1475613"/>
            <a:ext cx="2625998" cy="257175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5BE22663-32E6-47A4-7B2F-78ABB9F0C3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8198"/>
          <a:stretch>
            <a:fillRect/>
          </a:stretch>
        </p:blipFill>
        <p:spPr>
          <a:xfrm>
            <a:off x="5962011" y="1475613"/>
            <a:ext cx="2564288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92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8648-5D95-E0B9-130A-C58C25FD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4CA860-943A-BFF2-172A-920D7E52BC75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73CC98-203D-8D21-5D71-84B670A8796D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B04E11-B699-D51F-5DC6-0D665CC7ECC5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5E6C41A-1D82-EF82-7FFF-99F5CCE8E24D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5FBEC73-2308-AB26-C19D-80D1DF79D9C5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C98FF6-78F4-91C8-88F5-BA4B1FC50399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為了客觀評估壓縮效果，我們引入以下四個指標：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8A373C7F-32C4-C609-4441-077E989B7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7" y="1325880"/>
            <a:ext cx="7081466" cy="345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5B40-39E4-9093-2EBE-2EF06EEF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D40DD7-F08D-F2C1-BFC8-C4279CFB2C16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983808-75F2-2D03-E86D-F906014AAF5E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73D0A1-B26E-268A-8CC8-F8EBF3BAD839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8E2AEA3-70CA-C4E3-4980-5B3D5342892F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7A7A618-0EFB-04AF-0112-9EC9317D7842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BC9AE1-112F-8252-EAC8-919C1F99F72F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灰階影像的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值與四個指標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E2532318-7C81-58DA-29B2-81EF20CD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1267" y="1466644"/>
            <a:ext cx="7081466" cy="317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82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3B28-F9D4-750D-5653-44573D2A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86B86E-4801-ACDD-7DD2-0A8798B72703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BCDD18-A543-9A88-3D8B-2638CD7730C3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FC30D-8497-3DE5-C69A-567DC07AEA97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8F30F41-C9DB-1BB8-836D-91CEFF914505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F432D12-4FA6-8099-8C02-5EE6FC81EF84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5F793DC-8826-70EE-FA5D-163BC0A1CC9A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灰階影像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 vs MSE,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PSNR)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2DE7EB8A-B0A2-7276-B144-A9FE01D6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973" y="1495439"/>
            <a:ext cx="7916333" cy="313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3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BBFB-6C4F-70B0-C676-0FE96CA2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A6DF74-1143-F39E-9651-304E5AAFDFEF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5C6F5B-7011-90FA-F404-895E3BF0500C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E68ED7-5DE8-2D06-F797-2C061352C086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78C4376-CEF1-635D-79EA-ED643DD77265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CBB0DCB-DC4C-BE0A-D273-76F084E1C0FD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8BFBE97-6360-6A51-6332-89F92D43F8B7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灰階影像、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值、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48883268-8285-BE38-5CC0-499EACD63A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1142" y="1466644"/>
            <a:ext cx="3981715" cy="317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0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F1EC-1E49-9A6E-3566-6BDAB302B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48E30D-DB8D-5D5E-3D93-1B841EBB9DFF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093032-3A82-DAF1-2ADA-E17B5006B366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87FA5E-CBEE-62DC-E732-C84A4C00D46C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7C7F3C-B749-50A6-4496-63615985DDC5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A03A3D5-E1EF-126B-ACB2-778627033C98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2ED6E62-AC65-F21B-E30C-A7ABA05BA36D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影像的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值與四個指標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D8F65F6A-99A4-0089-CF17-962769314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1267" y="1482040"/>
            <a:ext cx="7081466" cy="314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4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D272-D8BA-F8A7-272E-47F0BBE1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3F48A5-A930-7D5D-905E-CE2BC58821F5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0BA6B0-B44F-3DDC-710A-438F69731883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5421F3-7721-2DFB-D46C-6277011485A2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6367C6F-03D4-3D91-0799-3A1F03A6B1C0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5653792-F9EA-BE88-7DDF-58148C647FA5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ECDE45-2186-9120-3024-69AD6B06F680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 vs MSE,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PSNR)</a:t>
            </a:r>
            <a:endParaRPr lang="en-US" altLang="zh-TW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8E6D2A19-8FF7-DA34-7B98-95AB7DC6F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975" y="1495439"/>
            <a:ext cx="7916329" cy="313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11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3D310-4888-E42E-E032-3293E346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3A36FD-983C-D1B7-40BE-56655B9D1AF1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08F814-3340-49DD-31A9-72914BA24E86}"/>
              </a:ext>
            </a:extLst>
          </p:cNvPr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53A469-5D0F-AF1D-A375-D7872C411D98}"/>
              </a:ext>
            </a:extLst>
          </p:cNvPr>
          <p:cNvSpPr/>
          <p:nvPr/>
        </p:nvSpPr>
        <p:spPr>
          <a:xfrm>
            <a:off x="27432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尋找最佳的</a:t>
            </a:r>
            <a:r>
              <a:rPr lang="en-US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r>
              <a:rPr lang="fr-FR" altLang="zh-TW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(Compression Ratio vs. Image Quality)</a:t>
            </a:r>
            <a:endParaRPr lang="en-US" sz="2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12EBD6B-7A8B-9184-8B85-DE2AA38894AB}"/>
              </a:ext>
            </a:extLst>
          </p:cNvPr>
          <p:cNvSpPr/>
          <p:nvPr/>
        </p:nvSpPr>
        <p:spPr>
          <a:xfrm>
            <a:off x="27432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EC34522-31ED-0BAD-ED79-137C471C0AA8}"/>
              </a:ext>
            </a:extLst>
          </p:cNvPr>
          <p:cNvSpPr/>
          <p:nvPr/>
        </p:nvSpPr>
        <p:spPr>
          <a:xfrm>
            <a:off x="274320" y="914400"/>
            <a:ext cx="8549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E336219-6D63-E301-8E74-A7070B487610}"/>
              </a:ext>
            </a:extLst>
          </p:cNvPr>
          <p:cNvSpPr/>
          <p:nvPr/>
        </p:nvSpPr>
        <p:spPr>
          <a:xfrm>
            <a:off x="590973" y="978408"/>
            <a:ext cx="7916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影像、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zh-TW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值、</a:t>
            </a:r>
            <a:r>
              <a:rPr lang="en-US" altLang="zh-TW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D5DB0738-78EE-12E1-E69A-72FAA80BA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1142" y="1466644"/>
            <a:ext cx="3981715" cy="317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375</Words>
  <Application>Microsoft Office PowerPoint</Application>
  <PresentationFormat>如螢幕大小 (16:9)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SVD 影像壓縮分析</dc:title>
  <dc:subject>PptxGenJS Presentation</dc:subject>
  <dc:creator>SVD Image Compression</dc:creator>
  <cp:lastModifiedBy>Eric Huang</cp:lastModifiedBy>
  <cp:revision>5</cp:revision>
  <dcterms:created xsi:type="dcterms:W3CDTF">2026-04-02T17:58:10Z</dcterms:created>
  <dcterms:modified xsi:type="dcterms:W3CDTF">2026-04-03T06:34:27Z</dcterms:modified>
</cp:coreProperties>
</file>